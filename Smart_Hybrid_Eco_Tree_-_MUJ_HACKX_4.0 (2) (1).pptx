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49"/>
  </p:normalViewPr>
  <p:slideViewPr>
    <p:cSldViewPr snapToGrid="0">
      <p:cViewPr>
        <p:scale>
          <a:sx n="77" d="100"/>
          <a:sy n="77" d="100"/>
        </p:scale>
        <p:origin x="10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B662B-DB77-49CF-AAA6-9BF5B1A94FD1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524B2-0471-419C-A141-050A5A0ACF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384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524B2-0471-419C-A141-050A5A0ACFE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471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F6AE2-9F2D-1E35-1A17-9330D9A4E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D4CED-B2E2-9308-82C6-2C96D3FD5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B325D-69DC-9BD1-BF18-59A052215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A6429-B682-7368-0C49-55FE8A6B2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2BAA2-4EF4-082B-938E-F8D145911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2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034D2-6D79-0F7B-E11B-8BCDE607B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6C602-AE5E-A506-1502-193A15011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BF264-0796-B7D0-BA2E-C4BB7944D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1E9D7-AE60-76EC-ED31-63946798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DD6F4-7F7B-B2DE-8B38-228B83524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11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E037D-F7E8-0133-DF5B-82C915EF6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F2A7C-48A9-5561-4A7A-29DB4C7EF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5949F-BBED-5F2A-5345-08547839C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4906C-D454-820B-371A-7FA3CD301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4B578-F956-A703-287F-DAD5567B0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922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94976-71C1-E6EF-9AC1-B25B513E9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45D41-D9E0-0D2B-C98B-9CE1D9C32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3AF9C-6890-6FD2-5118-FF08987A7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2715E-4BFF-F3D0-D4B5-1A1BC83DD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78419-CA20-2DD5-BFC7-FE777BD0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42D54-75E7-9110-0B8D-887636478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78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D7613-3AAE-377F-E75B-EDEEF5AC3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3F4CF-51AE-15A6-197B-78777EF34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5C9C2-2289-529C-8E42-64B3B2F7A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2ED327-8672-EE87-DEAB-002117C747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3F2CE0-BA71-822E-2F74-0A238B2204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C35BB5-2E4E-FF2A-C447-E79F0BF45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69F78A-FF05-2C55-87FD-7D68109FB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9368D2-BA20-B448-FDF1-1406EC3E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34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BFA3C-1930-6DE4-C04E-FF4BB1364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06B19D-F1B9-07D2-9496-865FDBAF6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8213A-F76D-8794-E8AC-89B1A90E4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AFB85-DEB8-C1AF-9F47-C8985F637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63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B8BEA-C1AE-80AC-B788-8DD25751D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5491D7-C3A2-E68F-55F6-F223D1E0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ABD25-F132-41A4-AB7C-7209595F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50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42D0C-0531-2101-51E8-CEE00A9CD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F337F-6710-833D-5F90-E9464C8C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BB1C6-DF38-7FFC-9397-C41B3957A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2D38B-D6A6-073A-0953-6C7FB7859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FADE-CE10-201C-E5ED-6F9950BA0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DA0A5-B0F0-B3CB-60D1-0A81355F7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1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AAB85-2021-543B-4E90-53C463874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5E5D7-0EA9-DF0A-5675-8A3C23B89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3BCAF-D92F-A2C4-5096-DFA5A3BED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12D9B-CCBF-D844-D701-3C1B5B278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16667-DD02-80A7-3B27-60958CBB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A8CA7-4082-FBBE-C7E9-D9B8A8F9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6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DDA6-D047-2C1E-7532-DD3105C2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99469-A125-A889-44EB-FEB4F2892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03B4B-21DC-2275-D77C-CADA27110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30736-2B74-FE9C-767D-1F4842E1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B9328-B99E-0F47-FFF1-D4A95710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71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CC601F-F3DD-4421-D2E8-2172AF63A6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F6854D-EBFB-566B-680C-1370F2BEB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58BF2-5FD9-5296-D446-8CF16092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0472D-82D8-DC18-7527-36E98A609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9AA75-8A62-9E2E-CBB3-82566ECB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74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C29F23-F68F-8298-E976-FD51837B9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9ACC1-F056-B963-FEF8-AFED6944C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9ED91-79C0-F70E-D414-C84BF4EDE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24526-ABC5-5811-DDD9-910D30307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3E01A-8564-F347-D91B-988378C8A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4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9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12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4.png"/><Relationship Id="rId5" Type="http://schemas.openxmlformats.org/officeDocument/2006/relationships/image" Target="../media/image20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25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7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3A69-451B-5C60-D3C3-80EFFDDB8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A25292-07CF-2C34-5DA8-2F8699C7A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EE91AB6-16D9-5270-4B41-454E74A5B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019" y="1186454"/>
            <a:ext cx="7185568" cy="2989077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39D722F3-6A88-8855-21FC-EFDDBD57D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72758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Team Name: Boomers</a:t>
            </a:r>
          </a:p>
          <a:p>
            <a:r>
              <a:rPr lang="en-US" sz="1800" dirty="0">
                <a:solidFill>
                  <a:schemeClr val="bg1"/>
                </a:solidFill>
              </a:rPr>
              <a:t>Team ID: [TEAM 077]</a:t>
            </a:r>
          </a:p>
          <a:p>
            <a:r>
              <a:rPr lang="en-US" sz="1800" dirty="0">
                <a:solidFill>
                  <a:schemeClr val="bg1"/>
                </a:solidFill>
              </a:rPr>
              <a:t>Problem Statement Selected: Smart Hybrid Eco Tree – Renewable Energy &amp; Pollution Monitoring for Urban Spaces</a:t>
            </a:r>
          </a:p>
          <a:p>
            <a:r>
              <a:rPr lang="en-US" sz="1800" dirty="0">
                <a:solidFill>
                  <a:schemeClr val="bg1"/>
                </a:solidFill>
              </a:rPr>
              <a:t>Theme: [Environmental Sustainability Problem Statements]</a:t>
            </a:r>
          </a:p>
          <a:p>
            <a:pPr algn="ctr"/>
            <a:r>
              <a:rPr sz="1300" dirty="0">
                <a:solidFill>
                  <a:srgbClr val="E6DAF0"/>
                </a:solidFill>
                <a:latin typeface="Calibri"/>
              </a:rPr>
              <a:t>Sharda University  •  </a:t>
            </a:r>
            <a:r>
              <a:rPr sz="1300" dirty="0" err="1">
                <a:solidFill>
                  <a:srgbClr val="E6DAF0"/>
                </a:solidFill>
                <a:latin typeface="Calibri"/>
              </a:rPr>
              <a:t>Bishwash</a:t>
            </a:r>
            <a:r>
              <a:rPr sz="1300" dirty="0">
                <a:solidFill>
                  <a:srgbClr val="E6DAF0"/>
                </a:solidFill>
                <a:latin typeface="Calibri"/>
              </a:rPr>
              <a:t> Kumar Panday, Abhay Kumar, Nancy Thakur, Vanshika Rana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4D76ABC-7E7F-FB75-D63B-7BEE818D88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235" y="209291"/>
            <a:ext cx="2357120" cy="47102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B38EF3-6BB7-0D35-2249-1B253CD463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7367" y="160131"/>
            <a:ext cx="4563964" cy="62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30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41C40-8C7D-63E5-7926-0040126F7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6963EB8-7F4C-0E45-C71F-F815C1A77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9E11D4D5-F915-BD3F-BCC6-A22137EB3F0E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IDEA / SOLUTION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65BBE8-1472-B476-2F21-FD3EAFABF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F8BCF7-7588-9F76-5156-E3621DB33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1810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9B4BB8"/>
                </a:solidFill>
                <a:latin typeface="Calibri"/>
              </a:rPr>
              <a:t>OUR 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103120"/>
            <a:ext cx="6583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100" b="1" i="0">
                <a:solidFill>
                  <a:srgbClr val="221433"/>
                </a:solidFill>
                <a:latin typeface="Cambria"/>
              </a:rPr>
              <a:t>A Tree-Inspired Structure That Generates,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100" b="1" i="0">
                <a:solidFill>
                  <a:srgbClr val="221433"/>
                </a:solidFill>
                <a:latin typeface="Cambria"/>
              </a:rPr>
              <a:t>Monitors, and Responds — All In 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63240"/>
            <a:ext cx="6583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5B5466"/>
                </a:solidFill>
                <a:latin typeface="Calibri"/>
              </a:rPr>
              <a:t>Cities face three connected problems: rising energy demand, worsening pollution, and limited usable space. The Smart Hybrid Eco Tree is a single vertical structure that combines solar and wind generation, energy storage, pollution monitoring, and smart control — solving all three together.</a:t>
            </a:r>
          </a:p>
        </p:txBody>
      </p:sp>
      <p:pic>
        <p:nvPicPr>
          <p:cNvPr id="17" name="Picture 16" descr="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810512"/>
            <a:ext cx="4251960" cy="31272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52360" y="4974336"/>
            <a:ext cx="4251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5B5466"/>
                </a:solidFill>
                <a:latin typeface="Calibri"/>
              </a:rPr>
              <a:t>Concept render — hybrid wind + solar tree structure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160520"/>
            <a:ext cx="566928" cy="566928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su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215" y="4237055"/>
            <a:ext cx="413857" cy="4138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4924" y="480060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21433"/>
                </a:solidFill>
                <a:latin typeface="Calibri"/>
              </a:rPr>
              <a:t>Solar Power</a:t>
            </a:r>
          </a:p>
        </p:txBody>
      </p:sp>
      <p:sp>
        <p:nvSpPr>
          <p:cNvPr id="22" name="Oval 21"/>
          <p:cNvSpPr/>
          <p:nvPr/>
        </p:nvSpPr>
        <p:spPr>
          <a:xfrm>
            <a:off x="2167127" y="4160520"/>
            <a:ext cx="566928" cy="566928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wi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3663" y="4237055"/>
            <a:ext cx="413857" cy="41385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833372" y="480060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21433"/>
                </a:solidFill>
                <a:latin typeface="Calibri"/>
              </a:rPr>
              <a:t>Wind Power</a:t>
            </a:r>
          </a:p>
        </p:txBody>
      </p:sp>
      <p:sp>
        <p:nvSpPr>
          <p:cNvPr id="25" name="Oval 24"/>
          <p:cNvSpPr/>
          <p:nvPr/>
        </p:nvSpPr>
        <p:spPr>
          <a:xfrm>
            <a:off x="3465575" y="4160520"/>
            <a:ext cx="566928" cy="566928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batte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2111" y="4237055"/>
            <a:ext cx="413857" cy="41385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131820" y="480060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21433"/>
                </a:solidFill>
                <a:latin typeface="Calibri"/>
              </a:rPr>
              <a:t>Energy Storage</a:t>
            </a:r>
          </a:p>
        </p:txBody>
      </p:sp>
      <p:sp>
        <p:nvSpPr>
          <p:cNvPr id="28" name="Oval 27"/>
          <p:cNvSpPr/>
          <p:nvPr/>
        </p:nvSpPr>
        <p:spPr>
          <a:xfrm>
            <a:off x="4764024" y="4160520"/>
            <a:ext cx="566928" cy="566928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mo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0559" y="4237055"/>
            <a:ext cx="413857" cy="41385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430268" y="480060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21433"/>
                </a:solidFill>
                <a:latin typeface="Calibri"/>
              </a:rPr>
              <a:t>Pollution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21433"/>
                </a:solidFill>
                <a:latin typeface="Calibri"/>
              </a:rPr>
              <a:t>Monitoring</a:t>
            </a:r>
          </a:p>
        </p:txBody>
      </p:sp>
      <p:sp>
        <p:nvSpPr>
          <p:cNvPr id="31" name="Oval 30"/>
          <p:cNvSpPr/>
          <p:nvPr/>
        </p:nvSpPr>
        <p:spPr>
          <a:xfrm>
            <a:off x="6062472" y="4160520"/>
            <a:ext cx="566928" cy="566928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bra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9007" y="4237055"/>
            <a:ext cx="413857" cy="41385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28716" y="480060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21433"/>
                </a:solidFill>
                <a:latin typeface="Calibri"/>
              </a:rPr>
              <a:t>Smart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21433"/>
                </a:solidFill>
                <a:latin typeface="Calibri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806440"/>
            <a:ext cx="11183112" cy="685800"/>
          </a:xfrm>
          <a:prstGeom prst="roundRect">
            <a:avLst>
              <a:gd name="adj" fmla="val 18000"/>
            </a:avLst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Generate Energy   →   Monitor Environment   →   Respond Automatically</a:t>
            </a:r>
          </a:p>
        </p:txBody>
      </p:sp>
    </p:spTree>
    <p:extLst>
      <p:ext uri="{BB962C8B-B14F-4D97-AF65-F5344CB8AC3E}">
        <p14:creationId xmlns:p14="http://schemas.microsoft.com/office/powerpoint/2010/main" val="1878704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5401E-A2F9-F68A-C13C-002654EB3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B06D229-9385-3356-27D2-D311E4E93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8EAF9B0-D700-6FFD-FA14-C703DA508D50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TECHNICAL APPROACH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5310F7-1D93-0B4B-D470-65F058648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AD54A5-EFB4-4AD9-699F-11FADC319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1810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9B4BB8"/>
                </a:solidFill>
                <a:latin typeface="Calibri"/>
              </a:rP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100" b="1" i="0">
                <a:solidFill>
                  <a:srgbClr val="221433"/>
                </a:solidFill>
                <a:latin typeface="Cambria"/>
              </a:rPr>
              <a:t>Two Integrated Flows, One 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060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B5466"/>
                </a:solidFill>
                <a:latin typeface="Calibri"/>
              </a:rPr>
              <a:t>The system architecture integrates generation, storage, pollution sensing, and automatic response in a single structure.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1752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4A2A72"/>
                </a:solidFill>
                <a:latin typeface="Calibri"/>
              </a:rPr>
              <a:t>POWER GENERATION FLOW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419856"/>
            <a:ext cx="329184" cy="329184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" y="3364991"/>
            <a:ext cx="4910327" cy="365760"/>
          </a:xfrm>
          <a:prstGeom prst="roundRect">
            <a:avLst>
              <a:gd name="adj" fmla="val 22000"/>
            </a:avLst>
          </a:prstGeom>
          <a:solidFill>
            <a:srgbClr val="F5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bIns="0" rtlCol="0" anchor="ctr"/>
          <a:lstStyle/>
          <a:p>
            <a:pPr algn="l"/>
            <a:r>
              <a:rPr sz="1100" b="0">
                <a:solidFill>
                  <a:srgbClr val="221433"/>
                </a:solidFill>
                <a:latin typeface="Calibri"/>
              </a:rPr>
              <a:t>Solar Panels + Wind Turbine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858768"/>
            <a:ext cx="329184" cy="329184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" y="3803904"/>
            <a:ext cx="4910327" cy="365760"/>
          </a:xfrm>
          <a:prstGeom prst="roundRect">
            <a:avLst>
              <a:gd name="adj" fmla="val 22000"/>
            </a:avLst>
          </a:prstGeom>
          <a:solidFill>
            <a:srgbClr val="F5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bIns="0" rtlCol="0" anchor="ctr"/>
          <a:lstStyle/>
          <a:p>
            <a:pPr algn="l"/>
            <a:r>
              <a:rPr sz="1100" b="0">
                <a:solidFill>
                  <a:srgbClr val="221433"/>
                </a:solidFill>
                <a:latin typeface="Calibri"/>
              </a:rPr>
              <a:t>Power Conditioning System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4297679"/>
            <a:ext cx="329184" cy="329184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" y="4242816"/>
            <a:ext cx="4910327" cy="365760"/>
          </a:xfrm>
          <a:prstGeom prst="roundRect">
            <a:avLst>
              <a:gd name="adj" fmla="val 22000"/>
            </a:avLst>
          </a:prstGeom>
          <a:solidFill>
            <a:srgbClr val="F5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bIns="0" rtlCol="0" anchor="ctr"/>
          <a:lstStyle/>
          <a:p>
            <a:pPr algn="l"/>
            <a:r>
              <a:rPr sz="1100" b="0">
                <a:solidFill>
                  <a:srgbClr val="221433"/>
                </a:solidFill>
                <a:latin typeface="Calibri"/>
              </a:rPr>
              <a:t>Battery Storage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4736592"/>
            <a:ext cx="329184" cy="329184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" y="4681728"/>
            <a:ext cx="4910327" cy="365760"/>
          </a:xfrm>
          <a:prstGeom prst="roundRect">
            <a:avLst>
              <a:gd name="adj" fmla="val 22000"/>
            </a:avLst>
          </a:prstGeom>
          <a:solidFill>
            <a:srgbClr val="F5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bIns="0" rtlCol="0" anchor="ctr"/>
          <a:lstStyle/>
          <a:p>
            <a:pPr algn="l"/>
            <a:r>
              <a:rPr sz="1100" b="0">
                <a:solidFill>
                  <a:srgbClr val="221433"/>
                </a:solidFill>
                <a:latin typeface="Calibri"/>
              </a:rPr>
              <a:t>Electrical Loads / EV Charging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301752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9B4BB8"/>
                </a:solidFill>
                <a:latin typeface="Calibri"/>
              </a:rPr>
              <a:t>POLLUTION RESPONSE FLOW</a:t>
            </a:r>
          </a:p>
        </p:txBody>
      </p:sp>
      <p:sp>
        <p:nvSpPr>
          <p:cNvPr id="23" name="Oval 22"/>
          <p:cNvSpPr/>
          <p:nvPr/>
        </p:nvSpPr>
        <p:spPr>
          <a:xfrm>
            <a:off x="6355079" y="3419856"/>
            <a:ext cx="329184" cy="329184"/>
          </a:xfrm>
          <a:prstGeom prst="ellipse">
            <a:avLst/>
          </a:prstGeom>
          <a:solidFill>
            <a:srgbClr val="9B4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93992" y="3364991"/>
            <a:ext cx="4910327" cy="365760"/>
          </a:xfrm>
          <a:prstGeom prst="roundRect">
            <a:avLst>
              <a:gd name="adj" fmla="val 22000"/>
            </a:avLst>
          </a:prstGeom>
          <a:solidFill>
            <a:srgbClr val="F5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bIns="0" rtlCol="0" anchor="ctr"/>
          <a:lstStyle/>
          <a:p>
            <a:pPr algn="l"/>
            <a:r>
              <a:rPr sz="1100" b="0">
                <a:solidFill>
                  <a:srgbClr val="221433"/>
                </a:solidFill>
                <a:latin typeface="Calibri"/>
              </a:rPr>
              <a:t>Pollution Sensors</a:t>
            </a:r>
          </a:p>
        </p:txBody>
      </p:sp>
      <p:sp>
        <p:nvSpPr>
          <p:cNvPr id="25" name="Oval 24"/>
          <p:cNvSpPr/>
          <p:nvPr/>
        </p:nvSpPr>
        <p:spPr>
          <a:xfrm>
            <a:off x="6355079" y="3858768"/>
            <a:ext cx="329184" cy="329184"/>
          </a:xfrm>
          <a:prstGeom prst="ellipse">
            <a:avLst/>
          </a:prstGeom>
          <a:solidFill>
            <a:srgbClr val="9B4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93992" y="3803904"/>
            <a:ext cx="4910327" cy="365760"/>
          </a:xfrm>
          <a:prstGeom prst="roundRect">
            <a:avLst>
              <a:gd name="adj" fmla="val 22000"/>
            </a:avLst>
          </a:prstGeom>
          <a:solidFill>
            <a:srgbClr val="F5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bIns="0" rtlCol="0" anchor="ctr"/>
          <a:lstStyle/>
          <a:p>
            <a:pPr algn="l"/>
            <a:r>
              <a:rPr sz="1100" b="0">
                <a:solidFill>
                  <a:srgbClr val="221433"/>
                </a:solidFill>
                <a:latin typeface="Calibri"/>
              </a:rPr>
              <a:t>AI-Based Analysis</a:t>
            </a:r>
          </a:p>
        </p:txBody>
      </p:sp>
      <p:sp>
        <p:nvSpPr>
          <p:cNvPr id="27" name="Oval 26"/>
          <p:cNvSpPr/>
          <p:nvPr/>
        </p:nvSpPr>
        <p:spPr>
          <a:xfrm>
            <a:off x="6355079" y="4297679"/>
            <a:ext cx="329184" cy="329184"/>
          </a:xfrm>
          <a:prstGeom prst="ellipse">
            <a:avLst/>
          </a:prstGeom>
          <a:solidFill>
            <a:srgbClr val="9B4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93992" y="4242816"/>
            <a:ext cx="4910327" cy="365760"/>
          </a:xfrm>
          <a:prstGeom prst="roundRect">
            <a:avLst>
              <a:gd name="adj" fmla="val 22000"/>
            </a:avLst>
          </a:prstGeom>
          <a:solidFill>
            <a:srgbClr val="F5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bIns="0" rtlCol="0" anchor="ctr"/>
          <a:lstStyle/>
          <a:p>
            <a:pPr algn="l"/>
            <a:r>
              <a:rPr sz="1100" b="0">
                <a:solidFill>
                  <a:srgbClr val="221433"/>
                </a:solidFill>
                <a:latin typeface="Calibri"/>
              </a:rPr>
              <a:t>Pollution Detected</a:t>
            </a:r>
          </a:p>
        </p:txBody>
      </p:sp>
      <p:sp>
        <p:nvSpPr>
          <p:cNvPr id="29" name="Oval 28"/>
          <p:cNvSpPr/>
          <p:nvPr/>
        </p:nvSpPr>
        <p:spPr>
          <a:xfrm>
            <a:off x="6355079" y="4736592"/>
            <a:ext cx="329184" cy="329184"/>
          </a:xfrm>
          <a:prstGeom prst="ellipse">
            <a:avLst/>
          </a:prstGeom>
          <a:solidFill>
            <a:srgbClr val="9B4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93992" y="4681728"/>
            <a:ext cx="4910327" cy="365760"/>
          </a:xfrm>
          <a:prstGeom prst="roundRect">
            <a:avLst>
              <a:gd name="adj" fmla="val 22000"/>
            </a:avLst>
          </a:prstGeom>
          <a:solidFill>
            <a:srgbClr val="F5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bIns="0" rtlCol="0" anchor="ctr"/>
          <a:lstStyle/>
          <a:p>
            <a:pPr algn="l"/>
            <a:r>
              <a:rPr sz="1100" b="0">
                <a:solidFill>
                  <a:srgbClr val="221433"/>
                </a:solidFill>
                <a:latin typeface="Calibri"/>
              </a:rPr>
              <a:t>Air Purifier Activated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303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9B4BB8"/>
                </a:solidFill>
                <a:latin typeface="Calibri"/>
              </a:rPr>
              <a:t>ADAPTIVE FEATURES</a:t>
            </a:r>
          </a:p>
        </p:txBody>
      </p:sp>
      <p:sp>
        <p:nvSpPr>
          <p:cNvPr id="32" name="Oval 31"/>
          <p:cNvSpPr/>
          <p:nvPr/>
        </p:nvSpPr>
        <p:spPr>
          <a:xfrm>
            <a:off x="530352" y="5650992"/>
            <a:ext cx="457200" cy="457200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su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074" y="5712714"/>
            <a:ext cx="333756" cy="33375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69848" y="569671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21433"/>
                </a:solidFill>
                <a:latin typeface="Calibri"/>
              </a:rPr>
              <a:t>Solar Tracking</a:t>
            </a:r>
          </a:p>
        </p:txBody>
      </p:sp>
      <p:sp>
        <p:nvSpPr>
          <p:cNvPr id="35" name="Oval 34"/>
          <p:cNvSpPr/>
          <p:nvPr/>
        </p:nvSpPr>
        <p:spPr>
          <a:xfrm>
            <a:off x="3273552" y="5650992"/>
            <a:ext cx="457200" cy="457200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bro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274" y="5712714"/>
            <a:ext cx="333756" cy="3337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813048" y="569671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21433"/>
                </a:solidFill>
                <a:latin typeface="Calibri"/>
              </a:rPr>
              <a:t>Self-Cleaning</a:t>
            </a:r>
          </a:p>
        </p:txBody>
      </p:sp>
      <p:sp>
        <p:nvSpPr>
          <p:cNvPr id="38" name="Oval 37"/>
          <p:cNvSpPr/>
          <p:nvPr/>
        </p:nvSpPr>
        <p:spPr>
          <a:xfrm>
            <a:off x="6016752" y="5650992"/>
            <a:ext cx="457200" cy="457200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8474" y="5712714"/>
            <a:ext cx="333756" cy="33375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56248" y="569671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21433"/>
                </a:solidFill>
                <a:latin typeface="Calibri"/>
              </a:rPr>
              <a:t>Smart Energy Mgmt</a:t>
            </a:r>
          </a:p>
        </p:txBody>
      </p:sp>
      <p:sp>
        <p:nvSpPr>
          <p:cNvPr id="41" name="Oval 40"/>
          <p:cNvSpPr/>
          <p:nvPr/>
        </p:nvSpPr>
        <p:spPr>
          <a:xfrm>
            <a:off x="8759952" y="5650992"/>
            <a:ext cx="457200" cy="457200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wif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1674" y="5712714"/>
            <a:ext cx="333756" cy="33375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299448" y="569671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21433"/>
                </a:solidFill>
                <a:latin typeface="Calibri"/>
              </a:rPr>
              <a:t>IoT Monitoring</a:t>
            </a:r>
          </a:p>
        </p:txBody>
      </p:sp>
    </p:spTree>
    <p:extLst>
      <p:ext uri="{BB962C8B-B14F-4D97-AF65-F5344CB8AC3E}">
        <p14:creationId xmlns:p14="http://schemas.microsoft.com/office/powerpoint/2010/main" val="3825765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02FBD-CBBD-6E7A-8F99-03C2E2901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B04B77D-A964-8DB6-902A-54E2526D8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02F223C4-723B-D8FF-2E5F-5046513C4580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USER EXPERIENCE &amp;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B7DEE1-657B-AF06-8122-5796D8557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699807-7773-E300-C1BA-EC6E6BACB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1810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9B4BB8"/>
                </a:solidFill>
                <a:latin typeface="Calibri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100" b="1" i="0">
                <a:solidFill>
                  <a:srgbClr val="221433"/>
                </a:solidFill>
                <a:latin typeface="Cambria"/>
              </a:rPr>
              <a:t>Designed to Be Modular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06040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B5466"/>
                </a:solidFill>
                <a:latin typeface="Calibri"/>
              </a:rPr>
              <a:t>A radial branch layout lets every component be added, replaced, upgraded, or scaled independently — keeping the structure easy to maintain and expand.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483864"/>
            <a:ext cx="146304" cy="146304"/>
          </a:xfrm>
          <a:prstGeom prst="ellipse">
            <a:avLst/>
          </a:prstGeom>
          <a:solidFill>
            <a:srgbClr val="9B4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21433"/>
                </a:solidFill>
                <a:latin typeface="Calibri"/>
              </a:rPr>
              <a:t>Solar Branches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301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B4BB8"/>
                </a:solidFill>
                <a:latin typeface="Calibri"/>
              </a:rPr>
              <a:t>↓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941063"/>
            <a:ext cx="146304" cy="146304"/>
          </a:xfrm>
          <a:prstGeom prst="ellipse">
            <a:avLst/>
          </a:prstGeom>
          <a:solidFill>
            <a:srgbClr val="9B4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21433"/>
                </a:solidFill>
                <a:latin typeface="Calibri"/>
              </a:rPr>
              <a:t>Wind Turbine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873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B4BB8"/>
                </a:solidFill>
                <a:latin typeface="Calibri"/>
              </a:rPr>
              <a:t>↓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4398264"/>
            <a:ext cx="146304" cy="146304"/>
          </a:xfrm>
          <a:prstGeom prst="ellipse">
            <a:avLst/>
          </a:prstGeom>
          <a:solidFill>
            <a:srgbClr val="9B4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3434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21433"/>
                </a:solidFill>
                <a:latin typeface="Calibri"/>
              </a:rPr>
              <a:t>Central Control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445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B4BB8"/>
                </a:solidFill>
                <a:latin typeface="Calibri"/>
              </a:rPr>
              <a:t>↓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4855464"/>
            <a:ext cx="146304" cy="146304"/>
          </a:xfrm>
          <a:prstGeom prst="ellipse">
            <a:avLst/>
          </a:prstGeom>
          <a:solidFill>
            <a:srgbClr val="9B4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8006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21433"/>
                </a:solidFill>
                <a:latin typeface="Calibri"/>
              </a:rPr>
              <a:t>Battery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017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B4BB8"/>
                </a:solidFill>
                <a:latin typeface="Calibri"/>
              </a:rPr>
              <a:t>↓</a:t>
            </a:r>
          </a:p>
        </p:txBody>
      </p:sp>
      <p:sp>
        <p:nvSpPr>
          <p:cNvPr id="25" name="Oval 24"/>
          <p:cNvSpPr/>
          <p:nvPr/>
        </p:nvSpPr>
        <p:spPr>
          <a:xfrm>
            <a:off x="502920" y="5312664"/>
            <a:ext cx="146304" cy="146304"/>
          </a:xfrm>
          <a:prstGeom prst="ellipse">
            <a:avLst/>
          </a:prstGeom>
          <a:solidFill>
            <a:srgbClr val="9B4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2578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21433"/>
                </a:solidFill>
                <a:latin typeface="Calibri"/>
              </a:rPr>
              <a:t>Rainwater Storage</a:t>
            </a:r>
          </a:p>
        </p:txBody>
      </p:sp>
      <p:pic>
        <p:nvPicPr>
          <p:cNvPr id="27" name="Picture 26" descr="1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810512"/>
            <a:ext cx="5440680" cy="36301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63640" y="5468112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5B5466"/>
                </a:solidFill>
                <a:latin typeface="Calibri"/>
              </a:rPr>
              <a:t>Aerial view — radial branch layout concept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806440"/>
            <a:ext cx="5440680" cy="685800"/>
          </a:xfrm>
          <a:prstGeom prst="roundRect">
            <a:avLst>
              <a:gd name="adj" fmla="val 18000"/>
            </a:avLst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Add  →  Replace  →  Upgrade  →  Scale</a:t>
            </a:r>
          </a:p>
        </p:txBody>
      </p:sp>
    </p:spTree>
    <p:extLst>
      <p:ext uri="{BB962C8B-B14F-4D97-AF65-F5344CB8AC3E}">
        <p14:creationId xmlns:p14="http://schemas.microsoft.com/office/powerpoint/2010/main" val="1631693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BE5B1-2A68-3BFA-91DB-CDDDF3460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703AB20-2028-7096-D4C2-A5C2F4DEC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1EC8439A-6F4E-8345-D2B1-B1AC36D1F2B5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FEASIBILITY AND VIABILITY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BF897E-31FC-0AB8-3A68-2EBDB9376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C373A6-492C-D1EA-CCD3-0986CFA63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1810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9B4BB8"/>
                </a:solidFill>
                <a:latin typeface="Calibri"/>
              </a:rPr>
              <a:t>FROM CONCEPT TO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031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000" b="1" i="0">
                <a:solidFill>
                  <a:srgbClr val="221433"/>
                </a:solidFill>
                <a:latin typeface="Cambria"/>
              </a:rPr>
              <a:t>Validated in Simulation, Ready for Prototyping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97480"/>
            <a:ext cx="5120640" cy="1874519"/>
          </a:xfrm>
          <a:prstGeom prst="roundRect">
            <a:avLst>
              <a:gd name="adj" fmla="val 6000"/>
            </a:avLst>
          </a:prstGeom>
          <a:solidFill>
            <a:srgbClr val="F5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04088" y="2843784"/>
            <a:ext cx="438912" cy="438912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341" y="2903037"/>
            <a:ext cx="320405" cy="32040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4440" y="2862072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21433"/>
                </a:solidFill>
                <a:latin typeface="Cambria"/>
              </a:rPr>
              <a:t>Current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300984"/>
            <a:ext cx="4718303" cy="1142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24612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1433"/>
                </a:solidFill>
                <a:latin typeface="Calibri"/>
              </a:rPr>
              <a:t>✓  3D structural design – 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538727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1433"/>
                </a:solidFill>
                <a:latin typeface="Calibri"/>
              </a:rPr>
              <a:t>✓  Wind-flow analysis – 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31335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1433"/>
                </a:solidFill>
                <a:latin typeface="Calibri"/>
              </a:rPr>
              <a:t>✓  Solar analysis – 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23944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1433"/>
                </a:solidFill>
                <a:latin typeface="Calibri"/>
              </a:rPr>
              <a:t>✓  Power-system analysis – complete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709160"/>
            <a:ext cx="5120640" cy="1691640"/>
          </a:xfrm>
          <a:prstGeom prst="roundRect">
            <a:avLst>
              <a:gd name="adj" fmla="val 6000"/>
            </a:avLst>
          </a:prstGeom>
          <a:solidFill>
            <a:srgbClr val="F5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04088" y="4855464"/>
            <a:ext cx="438912" cy="438912"/>
          </a:xfrm>
          <a:prstGeom prst="ellipse">
            <a:avLst/>
          </a:prstGeom>
          <a:solidFill>
            <a:srgbClr val="9B4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341" y="4914717"/>
            <a:ext cx="320405" cy="32040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34440" y="4873752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21433"/>
                </a:solidFill>
                <a:latin typeface="Cambria"/>
              </a:rPr>
              <a:t>Next Stage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312664"/>
            <a:ext cx="4718303" cy="960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25780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1433"/>
                </a:solidFill>
                <a:latin typeface="Calibri"/>
              </a:rPr>
              <a:t>→  Build physical prototype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550408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1433"/>
                </a:solidFill>
                <a:latin typeface="Calibri"/>
              </a:rPr>
              <a:t>→  Test individual subsystems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843016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1433"/>
                </a:solidFill>
                <a:latin typeface="Calibri"/>
              </a:rPr>
              <a:t>→  Integrate complete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6135624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1433"/>
                </a:solidFill>
                <a:latin typeface="Calibri"/>
              </a:rPr>
              <a:t>→  Validate performance</a:t>
            </a:r>
          </a:p>
        </p:txBody>
      </p:sp>
      <p:pic>
        <p:nvPicPr>
          <p:cNvPr id="31" name="Picture 30" descr="newimg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0" y="2697480"/>
            <a:ext cx="5715000" cy="33375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989320" y="6080760"/>
            <a:ext cx="5715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 i="1">
                <a:solidFill>
                  <a:srgbClr val="5B5466"/>
                </a:solidFill>
                <a:latin typeface="Calibri"/>
              </a:rPr>
              <a:t>PV-system simulation (PVsyst) — monthly production, performance ratio and solar fraction used to validate the solar branch's expected yield.</a:t>
            </a:r>
          </a:p>
        </p:txBody>
      </p:sp>
    </p:spTree>
    <p:extLst>
      <p:ext uri="{BB962C8B-B14F-4D97-AF65-F5344CB8AC3E}">
        <p14:creationId xmlns:p14="http://schemas.microsoft.com/office/powerpoint/2010/main" val="2708695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23439-F0E1-61C1-829E-B369A75ED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32971CA-ACDD-36B0-40C5-99AEF2A9D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7738DEC-68AB-76B9-D1EA-AAC0A4CF9E8C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IMPACT AND BENEFITS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1FB5B7-A302-A73D-CE6A-C77517907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11AD2A-5452-63AF-EE44-AB470595E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1810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9B4BB8"/>
                </a:solidFill>
                <a:latin typeface="Calibri"/>
              </a:rPr>
              <a:t>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100" b="1" i="0">
                <a:solidFill>
                  <a:srgbClr val="221433"/>
                </a:solidFill>
                <a:latin typeface="Cambria"/>
              </a:rPr>
              <a:t>Designed for Real Urban Environments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9748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F5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04088" y="2843784"/>
            <a:ext cx="438912" cy="438912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r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341" y="2903037"/>
            <a:ext cx="320405" cy="32040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4440" y="286207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21433"/>
                </a:solidFill>
                <a:latin typeface="Cambria"/>
              </a:rPr>
              <a:t>Highways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300984"/>
            <a:ext cx="3118104" cy="960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5B5466"/>
                </a:solidFill>
                <a:latin typeface="Calibri"/>
              </a:rPr>
              <a:t>Solar generation + vehicle-induced airflow + pollution monitoring.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269748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F5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17136" y="2843784"/>
            <a:ext cx="438912" cy="438912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6389" y="2903037"/>
            <a:ext cx="320405" cy="32040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47488" y="286207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21433"/>
                </a:solidFill>
                <a:latin typeface="Cambria"/>
              </a:rPr>
              <a:t>Smart Cities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3300984"/>
            <a:ext cx="3118104" cy="960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5B5466"/>
                </a:solidFill>
                <a:latin typeface="Calibri"/>
              </a:rPr>
              <a:t>Decentralized renewable energy + environmental monitoring.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9016" y="269748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F5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330184" y="2843784"/>
            <a:ext cx="438912" cy="438912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ev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9437" y="2903037"/>
            <a:ext cx="320405" cy="32040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0536" y="286207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21433"/>
                </a:solidFill>
                <a:latin typeface="Cambria"/>
              </a:rPr>
              <a:t>EV Corridors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4" y="3300984"/>
            <a:ext cx="3118104" cy="960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5B5466"/>
                </a:solidFill>
                <a:latin typeface="Calibri"/>
              </a:rPr>
              <a:t>Renewable-assisted energy supply + charging.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57200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5B5466"/>
                </a:solidFill>
                <a:latin typeface="Calibri"/>
              </a:rPr>
              <a:t>Future expansion: campuses, industrial areas, and residential environments.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07492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9B4BB8"/>
                </a:solidFill>
                <a:latin typeface="Calibri"/>
              </a:rPr>
              <a:t>OUR VISION — TODAY'S URBAN STRUCTURES ARE MOSTLY PASSIVE. WE WANT TO MAKE THEM:</a:t>
            </a:r>
          </a:p>
        </p:txBody>
      </p:sp>
      <p:sp>
        <p:nvSpPr>
          <p:cNvPr id="29" name="Oval 28"/>
          <p:cNvSpPr/>
          <p:nvPr/>
        </p:nvSpPr>
        <p:spPr>
          <a:xfrm>
            <a:off x="1325880" y="5440680"/>
            <a:ext cx="502920" cy="502920"/>
          </a:xfrm>
          <a:prstGeom prst="ellipse">
            <a:avLst/>
          </a:prstGeom>
          <a:solidFill>
            <a:srgbClr val="9B4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bo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3774" y="5508574"/>
            <a:ext cx="367131" cy="36713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2940" y="60167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21433"/>
                </a:solidFill>
                <a:latin typeface="Calibri"/>
              </a:rPr>
              <a:t>Energy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21433"/>
                </a:solidFill>
                <a:latin typeface="Calibri"/>
              </a:rPr>
              <a:t>Producing</a:t>
            </a:r>
          </a:p>
        </p:txBody>
      </p:sp>
      <p:sp>
        <p:nvSpPr>
          <p:cNvPr id="32" name="Oval 31"/>
          <p:cNvSpPr/>
          <p:nvPr/>
        </p:nvSpPr>
        <p:spPr>
          <a:xfrm>
            <a:off x="3474720" y="5440680"/>
            <a:ext cx="502920" cy="502920"/>
          </a:xfrm>
          <a:prstGeom prst="ellipse">
            <a:avLst/>
          </a:prstGeom>
          <a:solidFill>
            <a:srgbClr val="9B4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smo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2614" y="5508574"/>
            <a:ext cx="367131" cy="36713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811780" y="60167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21433"/>
                </a:solidFill>
                <a:latin typeface="Calibri"/>
              </a:rPr>
              <a:t>Environment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21433"/>
                </a:solidFill>
                <a:latin typeface="Calibri"/>
              </a:rPr>
              <a:t>Aware</a:t>
            </a:r>
          </a:p>
        </p:txBody>
      </p:sp>
      <p:sp>
        <p:nvSpPr>
          <p:cNvPr id="35" name="Oval 34"/>
          <p:cNvSpPr/>
          <p:nvPr/>
        </p:nvSpPr>
        <p:spPr>
          <a:xfrm>
            <a:off x="5623560" y="5440680"/>
            <a:ext cx="502920" cy="502920"/>
          </a:xfrm>
          <a:prstGeom prst="ellipse">
            <a:avLst/>
          </a:prstGeom>
          <a:solidFill>
            <a:srgbClr val="9B4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bra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91454" y="5508574"/>
            <a:ext cx="367131" cy="36713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960620" y="60167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21433"/>
                </a:solidFill>
                <a:latin typeface="Calibri"/>
              </a:rPr>
              <a:t>Intelligent</a:t>
            </a:r>
          </a:p>
        </p:txBody>
      </p:sp>
      <p:sp>
        <p:nvSpPr>
          <p:cNvPr id="38" name="Oval 37"/>
          <p:cNvSpPr/>
          <p:nvPr/>
        </p:nvSpPr>
        <p:spPr>
          <a:xfrm>
            <a:off x="7772400" y="5440680"/>
            <a:ext cx="502920" cy="502920"/>
          </a:xfrm>
          <a:prstGeom prst="ellipse">
            <a:avLst/>
          </a:prstGeom>
          <a:solidFill>
            <a:srgbClr val="9B4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syn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0294" y="5508574"/>
            <a:ext cx="367131" cy="36713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109460" y="60167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21433"/>
                </a:solidFill>
                <a:latin typeface="Calibri"/>
              </a:rPr>
              <a:t>Adaptable</a:t>
            </a:r>
          </a:p>
        </p:txBody>
      </p:sp>
      <p:sp>
        <p:nvSpPr>
          <p:cNvPr id="41" name="Oval 40"/>
          <p:cNvSpPr/>
          <p:nvPr/>
        </p:nvSpPr>
        <p:spPr>
          <a:xfrm>
            <a:off x="9921240" y="5440680"/>
            <a:ext cx="502920" cy="502920"/>
          </a:xfrm>
          <a:prstGeom prst="ellipse">
            <a:avLst/>
          </a:prstGeom>
          <a:solidFill>
            <a:srgbClr val="9B4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expan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89134" y="5508574"/>
            <a:ext cx="367131" cy="367131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258300" y="60167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21433"/>
                </a:solidFill>
                <a:latin typeface="Calibri"/>
              </a:rPr>
              <a:t>Scalable</a:t>
            </a:r>
          </a:p>
        </p:txBody>
      </p:sp>
    </p:spTree>
    <p:extLst>
      <p:ext uri="{BB962C8B-B14F-4D97-AF65-F5344CB8AC3E}">
        <p14:creationId xmlns:p14="http://schemas.microsoft.com/office/powerpoint/2010/main" val="3870938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5737-2B79-DAA5-C0FC-3D3F4D07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2F3364C-73ED-2B0D-5A27-C037A7892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4AC60AF1-F5C0-2574-2D97-03A2B872B0BF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BUSINESS MODEL &amp; SUSTAINABILITY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B213A8-0620-9CAC-346A-D9C5510A6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5B3C90-BB77-B1F0-3AF6-B60911167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1810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9B4BB8"/>
                </a:solidFill>
                <a:latin typeface="Calibri"/>
              </a:rPr>
              <a:t>BUSINESS MODEL &amp; SUSTAINABILITY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000" b="1" i="0">
                <a:solidFill>
                  <a:srgbClr val="221433"/>
                </a:solidFill>
                <a:latin typeface="Cambria"/>
              </a:rPr>
              <a:t>A Scalable, Low-Maintenance Path to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517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B5466"/>
                </a:solidFill>
                <a:latin typeface="Calibri"/>
              </a:rPr>
              <a:t>Drawn from the product's modular design and target applications — to be refined with real cost and partnership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0896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F5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04088" y="3255263"/>
            <a:ext cx="438912" cy="438912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341" y="3314517"/>
            <a:ext cx="320405" cy="32040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4440" y="327355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21433"/>
                </a:solidFill>
                <a:latin typeface="Cambria"/>
              </a:rPr>
              <a:t>Deployment Partners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712464"/>
            <a:ext cx="3118104" cy="960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B5466"/>
                </a:solidFill>
                <a:latin typeface="Calibri"/>
              </a:rPr>
              <a:t>Municipal bodies, smart-city programs, highway authorities, and EV-infrastructure operators for phased rollouts.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10896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F5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17136" y="3255263"/>
            <a:ext cx="438912" cy="438912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u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6389" y="3314517"/>
            <a:ext cx="320405" cy="32040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47488" y="327355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21433"/>
                </a:solidFill>
                <a:latin typeface="Cambria"/>
              </a:rPr>
              <a:t>Modular Revenue 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3712464"/>
            <a:ext cx="3118104" cy="960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B5466"/>
                </a:solidFill>
                <a:latin typeface="Calibri"/>
              </a:rPr>
              <a:t>Each branch (solar, wind, sensing) can be sold, leased, or upgraded independently, lowering entry cost.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9016" y="310896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F5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30184" y="3255263"/>
            <a:ext cx="438912" cy="438912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sy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9437" y="3314517"/>
            <a:ext cx="320405" cy="32040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860536" y="327355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21433"/>
                </a:solidFill>
                <a:latin typeface="Cambria"/>
              </a:rPr>
              <a:t>Low Operating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4" y="3712464"/>
            <a:ext cx="3118104" cy="960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B5466"/>
                </a:solidFill>
                <a:latin typeface="Calibri"/>
              </a:rPr>
              <a:t>Self-cleaning panels and remote IoT monitoring reduce manual maintenance and site visits.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074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9B4BB8"/>
                </a:solidFill>
                <a:latin typeface="Calibri"/>
              </a:rPr>
              <a:t>SUSTAINABILITY</a:t>
            </a:r>
          </a:p>
        </p:txBody>
      </p:sp>
      <p:sp>
        <p:nvSpPr>
          <p:cNvPr id="29" name="Oval 28"/>
          <p:cNvSpPr/>
          <p:nvPr/>
        </p:nvSpPr>
        <p:spPr>
          <a:xfrm>
            <a:off x="521208" y="5477256"/>
            <a:ext cx="402336" cy="402336"/>
          </a:xfrm>
          <a:prstGeom prst="ellipse">
            <a:avLst/>
          </a:prstGeom>
          <a:solidFill>
            <a:srgbClr val="9B4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lea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523" y="5531571"/>
            <a:ext cx="293705" cy="29370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05840" y="5477255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21433"/>
                </a:solidFill>
                <a:latin typeface="Calibri"/>
              </a:rPr>
              <a:t>100% renewable solar + wind generation</a:t>
            </a:r>
          </a:p>
        </p:txBody>
      </p:sp>
      <p:sp>
        <p:nvSpPr>
          <p:cNvPr id="32" name="Oval 31"/>
          <p:cNvSpPr/>
          <p:nvPr/>
        </p:nvSpPr>
        <p:spPr>
          <a:xfrm>
            <a:off x="5961888" y="5477256"/>
            <a:ext cx="402336" cy="402336"/>
          </a:xfrm>
          <a:prstGeom prst="ellipse">
            <a:avLst/>
          </a:prstGeom>
          <a:solidFill>
            <a:srgbClr val="9B4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tre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6203" y="5531571"/>
            <a:ext cx="293705" cy="29370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46520" y="5477255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21433"/>
                </a:solidFill>
                <a:latin typeface="Calibri"/>
              </a:rPr>
              <a:t>Reduces urban emissions via pollution monitoring &amp; response</a:t>
            </a:r>
          </a:p>
        </p:txBody>
      </p:sp>
      <p:sp>
        <p:nvSpPr>
          <p:cNvPr id="35" name="Oval 34"/>
          <p:cNvSpPr/>
          <p:nvPr/>
        </p:nvSpPr>
        <p:spPr>
          <a:xfrm>
            <a:off x="521208" y="6071616"/>
            <a:ext cx="402336" cy="402336"/>
          </a:xfrm>
          <a:prstGeom prst="ellipse">
            <a:avLst/>
          </a:prstGeom>
          <a:solidFill>
            <a:srgbClr val="9B4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seedl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5523" y="6125931"/>
            <a:ext cx="293705" cy="29370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05840" y="6071616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21433"/>
                </a:solidFill>
                <a:latin typeface="Calibri"/>
              </a:rPr>
              <a:t>Rainwater storage integrated into the structure</a:t>
            </a:r>
          </a:p>
        </p:txBody>
      </p:sp>
      <p:sp>
        <p:nvSpPr>
          <p:cNvPr id="38" name="Oval 37"/>
          <p:cNvSpPr/>
          <p:nvPr/>
        </p:nvSpPr>
        <p:spPr>
          <a:xfrm>
            <a:off x="5961888" y="6071616"/>
            <a:ext cx="402336" cy="402336"/>
          </a:xfrm>
          <a:prstGeom prst="ellipse">
            <a:avLst/>
          </a:prstGeom>
          <a:solidFill>
            <a:srgbClr val="9B4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expan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6203" y="6125931"/>
            <a:ext cx="293705" cy="29370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446520" y="6071616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21433"/>
                </a:solidFill>
                <a:latin typeface="Calibri"/>
              </a:rPr>
              <a:t>Modular parts extend product lifespan and cut waste</a:t>
            </a:r>
          </a:p>
        </p:txBody>
      </p:sp>
    </p:spTree>
    <p:extLst>
      <p:ext uri="{BB962C8B-B14F-4D97-AF65-F5344CB8AC3E}">
        <p14:creationId xmlns:p14="http://schemas.microsoft.com/office/powerpoint/2010/main" val="3148853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069AF-266D-7202-335D-8DC1EEFB4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A07BF2D-405B-F952-ECBF-F0EA885B9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2B96996-1E14-27C4-BD54-FE3A5019118B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RESEARCH AND REFERENCES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5AF521-D8E2-B952-887A-E121A4C28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D96FF5-44D9-6948-A357-46C1D7C30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1810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9B4BB8"/>
                </a:solidFill>
                <a:latin typeface="Calibri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2000" b="1" i="0">
                <a:solidFill>
                  <a:srgbClr val="221433"/>
                </a:solidFill>
                <a:latin typeface="Cambria"/>
              </a:rPr>
              <a:t>Research Basis &amp; Simulation Methodology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9748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5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04088" y="2843784"/>
            <a:ext cx="438912" cy="438912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fla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341" y="2903037"/>
            <a:ext cx="320405" cy="32040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4440" y="286207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21433"/>
                </a:solidFill>
                <a:latin typeface="Cambria"/>
              </a:rPr>
              <a:t>PV System Simulation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300984"/>
            <a:ext cx="3118104" cy="123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B5466"/>
                </a:solidFill>
                <a:latin typeface="Calibri"/>
              </a:rPr>
              <a:t>PVsyst software was used to size the solar branch — module and inverter selection, string configuration, and operating voltages/currents at STC.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269748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5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17136" y="2843784"/>
            <a:ext cx="438912" cy="438912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6389" y="2903037"/>
            <a:ext cx="320405" cy="32040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47488" y="286207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21433"/>
                </a:solidFill>
                <a:latin typeface="Cambria"/>
              </a:rPr>
              <a:t>Loss &amp; Performance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3300984"/>
            <a:ext cx="3118104" cy="123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B5466"/>
                </a:solidFill>
                <a:latin typeface="Calibri"/>
              </a:rPr>
              <a:t>Annual energy-loss diagrams and monthly performance-ratio outputs validate expected solar yield using standard solar-yield methods.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9016" y="269748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5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330184" y="2843784"/>
            <a:ext cx="438912" cy="438912"/>
          </a:xfrm>
          <a:prstGeom prst="ellipse">
            <a:avLst/>
          </a:prstGeom>
          <a:solidFill>
            <a:srgbClr val="4A2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bo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9437" y="2903037"/>
            <a:ext cx="320405" cy="32040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0536" y="286207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21433"/>
                </a:solidFill>
                <a:latin typeface="Cambria"/>
              </a:rPr>
              <a:t>Institutional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4" y="3300984"/>
            <a:ext cx="3118104" cy="123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B5466"/>
                </a:solidFill>
                <a:latin typeface="Calibri"/>
              </a:rPr>
              <a:t>Developed at Sharda University by Team Boomers as part of Hackathon 2026, Round 1 submission.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983480"/>
            <a:ext cx="10789920" cy="1051560"/>
          </a:xfrm>
          <a:prstGeom prst="roundRect">
            <a:avLst>
              <a:gd name="adj" fmla="val 10000"/>
            </a:avLst>
          </a:prstGeom>
          <a:solidFill>
            <a:srgbClr val="F5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5138928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5466"/>
                </a:solidFill>
                <a:latin typeface="Calibri"/>
              </a:rPr>
              <a:t>References: PVsyst — PV system design &amp; simulation software (module/inverter sizing, STC performance analysis). [Add any additional academic or technical references required by the hackathon submission guidelines.]</a:t>
            </a:r>
          </a:p>
        </p:txBody>
      </p:sp>
    </p:spTree>
    <p:extLst>
      <p:ext uri="{BB962C8B-B14F-4D97-AF65-F5344CB8AC3E}">
        <p14:creationId xmlns:p14="http://schemas.microsoft.com/office/powerpoint/2010/main" val="779447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677</Words>
  <Application>Microsoft Office PowerPoint</Application>
  <PresentationFormat>Widescreen</PresentationFormat>
  <Paragraphs>119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[BTECH-035-2023-24] ARYAN VERMA</dc:creator>
  <cp:lastModifiedBy>ABHAY KUMAR</cp:lastModifiedBy>
  <cp:revision>5</cp:revision>
  <dcterms:created xsi:type="dcterms:W3CDTF">2025-10-30T13:49:42Z</dcterms:created>
  <dcterms:modified xsi:type="dcterms:W3CDTF">2026-09-11T15:30:57Z</dcterms:modified>
</cp:coreProperties>
</file>